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Accrual accuracy</c:v>
                </c:pt>
              </c:strCache>
            </c:strRef>
          </c:tx>
          <c:spPr>
            <a:ln>
              <a:solidFill>
                <a:srgbClr val="2A78D6"/>
              </a:solidFill>
            </a:ln>
          </c:spPr>
          <c:cat>
            <c:strRef>
              <c:f>Sheet1!$A$2:$A$7</c:f>
              <c:strCache>
                <c:ptCount val="6"/>
                <c:pt idx="0">
                  <c:v>2026-04</c:v>
                </c:pt>
                <c:pt idx="1">
                  <c:v>2026-05</c:v>
                </c:pt>
                <c:pt idx="2">
                  <c:v>2026-06</c:v>
                </c:pt>
                <c:pt idx="3">
                  <c:v>2026-07</c:v>
                </c:pt>
                <c:pt idx="4">
                  <c:v>2026-08</c:v>
                </c:pt>
                <c:pt idx="5">
                  <c:v>2026-09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0.9587030821646292</c:v>
                </c:pt>
                <c:pt idx="1">
                  <c:v>0.9540190249028814</c:v>
                </c:pt>
                <c:pt idx="2">
                  <c:v>0.9511928986471738</c:v>
                </c:pt>
                <c:pt idx="3">
                  <c:v>0.9493467887523228</c:v>
                </c:pt>
                <c:pt idx="4">
                  <c:v>0.9518681993041603</c:v>
                </c:pt>
                <c:pt idx="5">
                  <c:v>0.935983930574003</c:v>
                </c:pt>
              </c:numCache>
            </c:numRef>
          </c:val>
          <c:smooth val="0"/>
        </c:ser>
        <c:dLbls>
          <c:numFmt formatCode="0.0%" sourceLinked="0"/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9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(USD)</c:v>
                </c:pt>
              </c:strCache>
            </c:strRef>
          </c:tx>
          <c:invertIfNegative val="0"/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EB6834"/>
              </a:solidFill>
            </c:spPr>
          </c:dPt>
          <c:dPt>
            <c:idx val="2"/>
            <c:spPr>
              <a:solidFill>
                <a:srgbClr val="2A78D6"/>
              </a:solidFill>
            </c:spPr>
          </c:dPt>
          <c:dPt>
            <c:idx val="3"/>
            <c:spPr>
              <a:solidFill>
                <a:srgbClr val="EB6834"/>
              </a:solidFill>
            </c:spPr>
          </c:dPt>
          <c:dPt>
            <c:idx val="4"/>
            <c:spPr>
              <a:solidFill>
                <a:srgbClr val="EB6834"/>
              </a:solidFill>
            </c:spPr>
          </c:dPt>
          <c:dPt>
            <c:idx val="5"/>
            <c:spPr>
              <a:solidFill>
                <a:srgbClr val="EB6834"/>
              </a:solidFill>
            </c:spPr>
          </c:dPt>
          <c:dPt>
            <c:idx val="6"/>
            <c:spPr>
              <a:solidFill>
                <a:srgbClr val="EB6834"/>
              </a:solidFill>
            </c:spPr>
          </c:dPt>
          <c:cat>
            <c:strRef>
              <c:f>Sheet1!$A$2:$A$8</c:f>
              <c:strCache>
                <c:ptCount val="7"/>
                <c:pt idx="0">
                  <c:v>Bunker</c:v>
                </c:pt>
                <c:pt idx="1">
                  <c:v>Joint Operation</c:v>
                </c:pt>
                <c:pt idx="2">
                  <c:v>Port Service</c:v>
                </c:pt>
                <c:pt idx="3">
                  <c:v>Canal</c:v>
                </c:pt>
                <c:pt idx="4">
                  <c:v>Terminal</c:v>
                </c:pt>
                <c:pt idx="5">
                  <c:v>Slot Charter</c:v>
                </c:pt>
                <c:pt idx="6">
                  <c:v>Transport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757640.0</c:v>
                </c:pt>
                <c:pt idx="1">
                  <c:v>410598.0</c:v>
                </c:pt>
                <c:pt idx="2">
                  <c:v>-207902.0</c:v>
                </c:pt>
                <c:pt idx="3">
                  <c:v>166423.0</c:v>
                </c:pt>
                <c:pt idx="4">
                  <c:v>23852.0</c:v>
                </c:pt>
                <c:pt idx="5">
                  <c:v>11925.0</c:v>
                </c:pt>
                <c:pt idx="6">
                  <c:v>2266.0</c:v>
                </c:pt>
              </c:numCache>
            </c:numRef>
          </c:val>
        </c:ser>
        <c:dLbls>
          <c:numFmt formatCode="#,##0,&quot;k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(USD)</c:v>
                </c:pt>
              </c:strCache>
            </c:strRef>
          </c:tx>
          <c:invertIfNegative val="0"/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EB6834"/>
              </a:solidFill>
            </c:spPr>
          </c:dPt>
          <c:dPt>
            <c:idx val="2"/>
            <c:spPr>
              <a:solidFill>
                <a:srgbClr val="EB6834"/>
              </a:solidFill>
            </c:spPr>
          </c:dPt>
          <c:dPt>
            <c:idx val="3"/>
            <c:spPr>
              <a:solidFill>
                <a:srgbClr val="EB6834"/>
              </a:solidFill>
            </c:spPr>
          </c:dPt>
          <c:dPt>
            <c:idx val="4"/>
            <c:spPr>
              <a:solidFill>
                <a:srgbClr val="EB6834"/>
              </a:solidFill>
            </c:spPr>
          </c:dPt>
          <c:cat>
            <c:strRef>
              <c:f>Sheet1!$A$2:$A$6</c:f>
              <c:strCache>
                <c:ptCount val="5"/>
                <c:pt idx="0">
                  <c:v>Asia-Europe</c:v>
                </c:pt>
                <c:pt idx="1">
                  <c:v>Intra-Asia</c:v>
                </c:pt>
                <c:pt idx="2">
                  <c:v>Transatlantic</c:v>
                </c:pt>
                <c:pt idx="3">
                  <c:v>Asia-Med</c:v>
                </c:pt>
                <c:pt idx="4">
                  <c:v>Transpacific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916085.0</c:v>
                </c:pt>
                <c:pt idx="1">
                  <c:v>83627.0</c:v>
                </c:pt>
                <c:pt idx="2">
                  <c:v>78362.0</c:v>
                </c:pt>
                <c:pt idx="3">
                  <c:v>60647.0</c:v>
                </c:pt>
                <c:pt idx="4">
                  <c:v>26081.0</c:v>
                </c:pt>
              </c:numCache>
            </c:numRef>
          </c:val>
        </c:ser>
        <c:dLbls>
          <c:numFmt formatCode="#,##0,&quot;k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(USD)</c:v>
                </c:pt>
              </c:strCache>
            </c:strRef>
          </c:tx>
          <c:invertIfNegative val="0"/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EB6834"/>
              </a:solidFill>
            </c:spPr>
          </c:dPt>
          <c:dPt>
            <c:idx val="2"/>
            <c:spPr>
              <a:solidFill>
                <a:srgbClr val="EB6834"/>
              </a:solidFill>
            </c:spPr>
          </c:dPt>
          <c:dPt>
            <c:idx val="3"/>
            <c:spPr>
              <a:solidFill>
                <a:srgbClr val="EB6834"/>
              </a:solidFill>
            </c:spPr>
          </c:dPt>
          <c:dPt>
            <c:idx val="4"/>
            <c:spPr>
              <a:solidFill>
                <a:srgbClr val="EB6834"/>
              </a:solidFill>
            </c:spPr>
          </c:dPt>
          <c:dPt>
            <c:idx val="5"/>
            <c:spPr>
              <a:solidFill>
                <a:srgbClr val="2A78D6"/>
              </a:solidFill>
            </c:spPr>
          </c:dPt>
          <c:dPt>
            <c:idx val="6"/>
            <c:spPr>
              <a:solidFill>
                <a:srgbClr val="EB6834"/>
              </a:solidFill>
            </c:spPr>
          </c:dPt>
          <c:dPt>
            <c:idx val="7"/>
            <c:spPr>
              <a:solidFill>
                <a:srgbClr val="2A78D6"/>
              </a:solidFill>
            </c:spPr>
          </c:dPt>
          <c:cat>
            <c:strRef>
              <c:f>Sheet1!$A$2:$A$9</c:f>
              <c:strCache>
                <c:ptCount val="8"/>
                <c:pt idx="0">
                  <c:v>Vendor B1</c:v>
                </c:pt>
                <c:pt idx="1">
                  <c:v>Vendor B2</c:v>
                </c:pt>
                <c:pt idx="2">
                  <c:v>Partner Y</c:v>
                </c:pt>
                <c:pt idx="3">
                  <c:v>Partner X</c:v>
                </c:pt>
                <c:pt idx="4">
                  <c:v>Suez Auth</c:v>
                </c:pt>
                <c:pt idx="5">
                  <c:v>PortCo LA</c:v>
                </c:pt>
                <c:pt idx="6">
                  <c:v>Panama Auth</c:v>
                </c:pt>
                <c:pt idx="7">
                  <c:v>PortCo SG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428845.0</c:v>
                </c:pt>
                <c:pt idx="1">
                  <c:v>328795.0</c:v>
                </c:pt>
                <c:pt idx="2">
                  <c:v>230157.0</c:v>
                </c:pt>
                <c:pt idx="3">
                  <c:v>176611.0</c:v>
                </c:pt>
                <c:pt idx="4">
                  <c:v>93619.0</c:v>
                </c:pt>
                <c:pt idx="5">
                  <c:v>-86958.0</c:v>
                </c:pt>
                <c:pt idx="6">
                  <c:v>72804.0</c:v>
                </c:pt>
                <c:pt idx="7">
                  <c:v>-66695.0</c:v>
                </c:pt>
              </c:numCache>
            </c:numRef>
          </c:val>
        </c:ser>
        <c:dLbls>
          <c:numFmt formatCode="#,##0,&quot;k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B1B1A"/>
                </a:solidFill>
              </a:defRPr>
            </a:pPr>
            <a:r>
              <a:t>Accruals were 95.1% accurate; Bunker drives USD +0.76M under-accrual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00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EB6834"/>
                </a:solidFill>
              </a:defRPr>
            </a:pPr>
            <a:r>
              <a:t>SAMPLE DATA — synthetic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B6A66"/>
                </a:solidFill>
              </a:defRPr>
            </a:pPr>
            <a:r>
              <a:t>Daily cost review · as of 05 Oct 2026 · variance = actual − accrual (+ = under-accrued)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B6A66"/>
                </a:solidFill>
              </a:defRPr>
            </a:pPr>
            <a:r>
              <a:t>Accrual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B1B1A"/>
                </a:solidFill>
              </a:defRPr>
            </a:pPr>
            <a:r>
              <a:t>95.1%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B6A66"/>
                </a:solidFill>
              </a:defRPr>
            </a:pPr>
            <a:r>
              <a:t>Net variance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B1B1A"/>
                </a:solidFill>
              </a:defRPr>
            </a:pPr>
            <a:r>
              <a:t>USD +1.16M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B6A66"/>
                </a:solidFill>
              </a:defRPr>
            </a:pPr>
            <a:r>
              <a:t>Unbilled accruals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B1B1A"/>
                </a:solidFill>
              </a:defRPr>
            </a:pPr>
            <a:r>
              <a:t>USD 12.1M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B6A66"/>
                </a:solidFill>
              </a:defRPr>
            </a:pPr>
            <a:r>
              <a:t>Material variances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B1B1A"/>
                </a:solidFill>
              </a:defRPr>
            </a:pPr>
            <a: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B1B1A"/>
                </a:solidFill>
              </a:defRPr>
            </a:pPr>
            <a:r>
              <a:t>• Accrual accuracy 95.1% on invoiced lines; net variance USD +1.16M (+2.2% of actual) — positive = under-accrued.</a:t>
            </a:r>
          </a:p>
          <a:p>
            <a:pPr>
              <a:spcAft>
                <a:spcPts val="600"/>
              </a:spcAft>
              <a:defRPr sz="1600" b="0">
                <a:solidFill>
                  <a:srgbClr val="1B1B1A"/>
                </a:solidFill>
              </a:defRPr>
            </a:pPr>
            <a:r>
              <a:t>• 25 material variances (≥10% and ≥USD 10k), USD +0.85M net.</a:t>
            </a:r>
          </a:p>
          <a:p>
            <a:pPr>
              <a:spcAft>
                <a:spcPts val="600"/>
              </a:spcAft>
              <a:defRPr sz="1600" b="0">
                <a:solidFill>
                  <a:srgbClr val="1B1B1A"/>
                </a:solidFill>
              </a:defRPr>
            </a:pPr>
            <a:r>
              <a:t>• Largest driver: Bunker at USD +0.76M (+3.3%).</a:t>
            </a:r>
          </a:p>
          <a:p>
            <a:pPr>
              <a:spcAft>
                <a:spcPts val="600"/>
              </a:spcAft>
              <a:defRPr sz="1600" b="0">
                <a:solidFill>
                  <a:srgbClr val="1B1B1A"/>
                </a:solidFill>
              </a:defRPr>
            </a:pPr>
            <a:r>
              <a:t>• Unbilled accruals USD 12.1M; 22 lines aged &gt;90d worth USD 4.3M — review for reversal/chase.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B1B1A"/>
                </a:solidFill>
              </a:defRPr>
            </a:pPr>
            <a:r>
              <a:t>Accuracy is slipping: 95.9% → 93.6% over six periods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00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EB6834"/>
                </a:solidFill>
              </a:defRPr>
            </a:pPr>
            <a:r>
              <a:t>SAMPLE DATA — synthetic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7498079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55448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B1B1A"/>
                </a:solidFill>
              </a:defRPr>
            </a:pPr>
            <a:r>
              <a:t>Reading this</a:t>
            </a:r>
          </a:p>
          <a:p>
            <a:pPr>
              <a:spcAft>
                <a:spcPts val="600"/>
              </a:spcAft>
              <a:defRPr sz="1400" b="0">
                <a:solidFill>
                  <a:srgbClr val="1B1B1A"/>
                </a:solidFill>
              </a:defRPr>
            </a:pPr>
            <a:r>
              <a:t>Latest period is partly un-invoiced, so its accuracy is provisional and will move as invoices land.</a:t>
            </a:r>
          </a:p>
          <a:p>
            <a:pPr>
              <a:spcAft>
                <a:spcPts val="600"/>
              </a:spcAft>
              <a:defRPr sz="1400" b="0">
                <a:solidFill>
                  <a:srgbClr val="1B1B1A"/>
                </a:solidFill>
              </a:defRPr>
            </a:pPr>
            <a:r>
              <a:t>Unbilled accruals: USD 12.1M.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B1B1A"/>
                </a:solidFill>
              </a:defRPr>
            </a:pPr>
            <a:r>
              <a:t>Bunker and Joint Operation account for most of the under-accrual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00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EB6834"/>
                </a:solidFill>
              </a:defRPr>
            </a:pPr>
            <a:r>
              <a:t>SAMPLE DATA — synthetic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80160"/>
          <a:ext cx="69494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13716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B1B1A"/>
                </a:solidFill>
              </a:defRPr>
            </a:pPr>
            <a:r>
              <a:t>Variance by cost category (USD)</a:t>
            </a:r>
          </a:p>
          <a:p>
            <a:pPr>
              <a:spcAft>
                <a:spcPts val="600"/>
              </a:spcAft>
              <a:defRPr sz="1400" b="0">
                <a:solidFill>
                  <a:srgbClr val="1B1B1A"/>
                </a:solidFill>
              </a:defRPr>
            </a:pPr>
            <a:r>
              <a:t>Orange = under-accrued (actual &gt; accrual); blue = over-accrued.</a:t>
            </a:r>
          </a:p>
          <a:p>
            <a:pPr>
              <a:spcAft>
                <a:spcPts val="600"/>
              </a:spcAft>
              <a:defRPr sz="1400" b="0">
                <a:solidFill>
                  <a:srgbClr val="1B1B1A"/>
                </a:solidFill>
              </a:defRPr>
            </a:pPr>
            <a:r>
              <a:t>Bunker: +0.76M (+3.3%)</a:t>
            </a:r>
          </a:p>
          <a:p>
            <a:pPr>
              <a:spcAft>
                <a:spcPts val="600"/>
              </a:spcAft>
              <a:defRPr sz="1400" b="0">
                <a:solidFill>
                  <a:srgbClr val="1B1B1A"/>
                </a:solidFill>
              </a:defRPr>
            </a:pPr>
            <a:r>
              <a:t>Joint Operation: +0.41M (+6.0%)</a:t>
            </a:r>
          </a:p>
          <a:p>
            <a:pPr>
              <a:spcAft>
                <a:spcPts val="600"/>
              </a:spcAft>
              <a:defRPr sz="1400" b="0">
                <a:solidFill>
                  <a:srgbClr val="1B1B1A"/>
                </a:solidFill>
              </a:defRPr>
            </a:pPr>
            <a:r>
              <a:t>Port Service: -0.21M (-8.0%)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B1B1A"/>
                </a:solidFill>
              </a:defRPr>
            </a:pPr>
            <a:r>
              <a:t>Asia-Europe is the hot lane: USD +0.92M of net 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00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EB6834"/>
                </a:solidFill>
              </a:defRPr>
            </a:pPr>
            <a:r>
              <a:t>SAMPLE DATA — synthetic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8016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280160"/>
          <a:ext cx="548640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06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B6A66"/>
                </a:solidFill>
              </a:defRPr>
            </a:pPr>
            <a:r>
              <a:t>By lane (left) · by vendor, top 8 (right)</a:t>
            </a:r>
          </a:p>
          <a:p>
            <a:pPr>
              <a:spcAft>
                <a:spcPts val="600"/>
              </a:spcAft>
              <a:defRPr sz="1300" b="0">
                <a:solidFill>
                  <a:srgbClr val="6B6A66"/>
                </a:solidFill>
              </a:defRPr>
            </a:pPr>
            <a:r>
              <a:t>Use lane × category detail in the dashboard to pinpoint the rate or surcharge being missed in the accrual.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B1B1A"/>
                </a:solidFill>
              </a:defRPr>
            </a:pPr>
            <a:r>
              <a:t>Ten line items explain the largest variances — start the follow-up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00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EB6834"/>
                </a:solidFill>
              </a:defRPr>
            </a:pPr>
            <a:r>
              <a:t>SAMPLE DATA — synthetic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80"/>
                <a:gridCol w="1249680"/>
                <a:gridCol w="1249680"/>
                <a:gridCol w="1249680"/>
                <a:gridCol w="1249680"/>
                <a:gridCol w="1249680"/>
                <a:gridCol w="1249680"/>
                <a:gridCol w="1249680"/>
                <a:gridCol w="124968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Voyage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Accrual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ASI21BU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Asia-Europe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Bunker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Vendor 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757880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855,814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97,934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+11.4%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ASI51BU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Asia-Europe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Bunker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Vendor 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509456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596,695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87,239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+14.6%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ASI20BU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Asia-Europe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Bunker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Vendor 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773447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858,670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85,223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+9.9%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ASI11BU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Asia-Europe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Bunker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Vendor 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773171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847,659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74,488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+8.8%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ASI30BU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Asia-Europe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Bunker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Vendor 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507437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564,242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56,805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+10.1%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ASI00BU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Asia-Europe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Bunker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Vendor 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445190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500,332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55,142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+11.0%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ASI40BU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Asia-Europe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Bunker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Vendor 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416663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471,757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55,094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+11.7%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ASI31BU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Asia-Europe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Bunker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Vendor 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400346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449,703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49,357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+11.0%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ASI41JO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Asia-Europe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Joint 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Partner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301035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349,170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48,135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+13.8%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TRA40JO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Transpacific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Joint 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Partner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307154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344,037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36,883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+10.7%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B1B1A"/>
                </a:solidFill>
              </a:defRPr>
            </a:pPr>
            <a:r>
              <a:t>USD 4.3M of accruals are &gt;90 days unbilled — chase or reverse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00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EB6834"/>
                </a:solidFill>
              </a:defRPr>
            </a:pPr>
            <a:r>
              <a:t>SAMPLE DATA — synthetic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Voyage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Accrual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Age (days)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ASI01BU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Asia-Europe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Bunker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Vendor 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466380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ASI20BU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Asia-Med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Bunker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Vendor 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390484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97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ASI11JO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Asia-Europe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Joint 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Partner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348762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127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ASI21JO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Asia-Europe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Joint 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Partner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291304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97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TRA00JO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Transpacific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Joint 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Partner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280361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TRA20JO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Transpacific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Joint 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Partner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267124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97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ASI10JO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Asia-Europe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Joint 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Partner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244494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127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ASI20JO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Asia-Europe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Joint 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Partner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235912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97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ASI00JO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Asia-Med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Joint 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Partner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175396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ASI20JO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Asia-Med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Joint 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Partner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174040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B6A66"/>
                </a:solidFill>
              </a:defRPr>
            </a:pPr>
            <a:r>
              <a:t>22 lines in total. Proposed: confirm with vendor/ops whether service was performed; if not, reverse; if yes, request invoice.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B1B1A"/>
                </a:solidFill>
              </a:defRPr>
            </a:pPr>
            <a:r>
              <a:t>Proposed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00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EB6834"/>
                </a:solidFill>
              </a:defRPr>
            </a:pPr>
            <a:r>
              <a:t>SAMPLE DATA — synthetic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B1B1A"/>
                </a:solidFill>
              </a:defRPr>
            </a:pPr>
            <a:r>
              <a:t>1. Re-base the Bunker accrual rate for the worst lane; monitor next period's variance.</a:t>
            </a:r>
          </a:p>
          <a:p>
            <a:pPr>
              <a:spcAft>
                <a:spcPts val="600"/>
              </a:spcAft>
              <a:defRPr sz="1800" b="0">
                <a:solidFill>
                  <a:srgbClr val="1B1B1A"/>
                </a:solidFill>
              </a:defRPr>
            </a:pPr>
            <a:r>
              <a:t>2. Review aged unbilled items with Ops/Procurement; reverse the stale ones before month-end.</a:t>
            </a:r>
          </a:p>
          <a:p>
            <a:pPr>
              <a:spcAft>
                <a:spcPts val="600"/>
              </a:spcAft>
              <a:defRPr sz="1800" b="0">
                <a:solidFill>
                  <a:srgbClr val="1B1B1A"/>
                </a:solidFill>
              </a:defRPr>
            </a:pPr>
            <a:r>
              <a:t>3. Investigate material variances (≥10% and ≥USD 10k) — confirm cause (rate, volume, surcharge, timing).</a:t>
            </a:r>
          </a:p>
          <a:p>
            <a:pPr>
              <a:spcAft>
                <a:spcPts val="600"/>
              </a:spcAft>
              <a:defRPr sz="1800" b="0">
                <a:solidFill>
                  <a:srgbClr val="1B1B1A"/>
                </a:solidFill>
              </a:defRPr>
            </a:pPr>
            <a:r>
              <a:t>4. Reduce systematic over-accrual where the variance is consistently negative (e.g. tariff-based port costs).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